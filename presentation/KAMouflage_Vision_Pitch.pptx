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98dfdc15-4196-6e49-20be-a201205a2a4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ackup" id="{31a0f723-cbdf-7ef3-87ab-1e39d075e676}">
          <p14:sldIdLst>
            <p14:sldId id="266"/>
            <p14:sldId id="267"/>
            <p14:sldId id="268"/>
            <p14:sldId id="269"/>
            <p14:sldId id="270"/>
          </p14:sldIdLst>
        </p14:section>
        <p14:section name="End" id="{fd830576-52c0-7b20-f013-c159cd3ebe8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we are KAMouflage Vision. (5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Khaled and Abdulla. (5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traps take thousands of photos. Most are empty, night shots are hard to read, and experts check every one by hand, so insights come late. BRIDGE: So we asked: what if experts only looked at the photos that actually need them? (20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app does four things: detect, suggest, verify, understand. (15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come in, AI filters empties and suggests a species. Above 90% is accepted, the rest goes to an expert. Everything runs inside the UAE. (20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demo video. (about 60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on 600 real camera-trap photos: 87% of animal bursts kept, two-thirds of empty bursts removed automatically. (15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tools exist. We build on the same open models, shaped around MOCCAE's own workflow and data. (10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Authorities sponsor a pilot; staff use it daily; we earn through support and integration. (10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90 days: set up, adapt to UAE species, then measure real time saved at one site. (15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We're happy to take questions. (5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23"/>
                </a:solidFill>
              </a:rPr>
              <a:t>KAMOUFLAGE VISION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B2A23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CC"/>
                </a:solidFill>
              </a:rPr>
              <a:t>KAMOUFLAGE VISION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7F3EA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C45"/>
                </a:solidFill>
              </a:rPr>
              <a:t>KAMOUFLAGE VISION  /  BACKUP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B2A23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5C4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haledSandoqa" TargetMode="External"/><Relationship Id="rId4" Type="http://schemas.openxmlformats.org/officeDocument/2006/relationships/hyperlink" Target="https://www.linkedin.com/in/khaled-sandoqa-9a649132b/" TargetMode="External"/><Relationship Id="rId6" Type="http://schemas.openxmlformats.org/officeDocument/2006/relationships/hyperlink" Target="https://github.com/abdalla980" TargetMode="External"/><Relationship Id="rId8" Type="http://schemas.openxmlformats.org/officeDocument/2006/relationships/hyperlink" Target="https://www.linkedin.com/in/abdallaizzeldin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dalla980/KAMouflageVision-UAE-HACKATHON26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abdul\Downloads\KAMouflage-Vision---UAE-HACKATHON26\presentation\assets\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4480560" cy="4480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1280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HACKATHON 2026  ·  PIONEERS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7373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KAMouflage Vision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28346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finds UAE wildlife in camera-trap photos, so experts only check what matters.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Khaled Sandoqa  ·  Abdalla Izzeldin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4846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MOCCAE wildlife monitoring challenge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Our team</a:t>
            </a:r>
            <a:endParaRPr lang="en-US" sz="3600" dirty="0"/>
          </a:p>
        </p:txBody>
      </p:sp>
      <p:sp>
        <p:nvSpPr>
          <p:cNvPr id="3" name="Card Khaled Sandoqa"/>
          <p:cNvSpPr/>
          <p:nvPr/>
        </p:nvSpPr>
        <p:spPr>
          <a:xfrm>
            <a:off x="548640" y="16002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011680"/>
            <a:ext cx="1463040" cy="1463040"/>
          </a:xfrm>
          <a:prstGeom prst="ellipse">
            <a:avLst/>
          </a:prstGeom>
          <a:solidFill>
            <a:srgbClr val="EAEFEA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Khaled Sandoqa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&amp; AI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88620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3867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github.com/khaledSandoqa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416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linkedin.com/in/khaled-sandoqa-9a649132b</a:t>
            </a:r>
            <a:endParaRPr lang="en-US" sz="1500" dirty="0"/>
          </a:p>
        </p:txBody>
      </p:sp>
      <p:sp>
        <p:nvSpPr>
          <p:cNvPr id="12" name="Card Abdalla Izzeldin"/>
          <p:cNvSpPr/>
          <p:nvPr/>
        </p:nvSpPr>
        <p:spPr>
          <a:xfrm>
            <a:off x="6339535" y="16002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51015" y="2011680"/>
            <a:ext cx="1463040" cy="1463040"/>
          </a:xfrm>
          <a:prstGeom prst="ellipse">
            <a:avLst/>
          </a:prstGeom>
          <a:solidFill>
            <a:srgbClr val="EAEFEA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51015" y="2011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8534095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Abdalla Izzeldin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8534095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software engineering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015" y="38862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53935" y="3867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github.com/abdalla980</a:t>
            </a:r>
            <a:endParaRPr lang="en-US" sz="15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1015" y="443484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53935" y="4416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linkedin.com/in/abdallaizzeldin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F3EA"/>
                </a:solidFill>
              </a:rPr>
              <a:t>The problem</a:t>
            </a:r>
            <a:endParaRPr lang="en-US" sz="3600" dirty="0"/>
          </a:p>
        </p:txBody>
      </p:sp>
      <p:pic>
        <p:nvPicPr>
          <p:cNvPr id="3" name="Image 0" descr="C:\Users\abdul\Downloads\KAMouflage-Vision---UAE-HACKATHON26\presentation\assets\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20040"/>
            <a:ext cx="1078992" cy="10789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MOCCAE wildlife monitoring challenge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traps across UAE reserves take thousands of photos. Experts check every one by hand, so verified wildlife records arrive too late to guide conservation decisions.</a:t>
            </a:r>
            <a:endParaRPr lang="en-US" sz="2600" dirty="0"/>
          </a:p>
        </p:txBody>
      </p:sp>
      <p:sp>
        <p:nvSpPr>
          <p:cNvPr id="6" name="Pain Too many photos"/>
          <p:cNvSpPr/>
          <p:nvPr/>
        </p:nvSpPr>
        <p:spPr>
          <a:xfrm>
            <a:off x="548640" y="35204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photos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frames are empty, triggered by wind or heat, yet someone still opens each one.</a:t>
            </a:r>
            <a:endParaRPr lang="en-US" sz="1500" dirty="0"/>
          </a:p>
        </p:txBody>
      </p:sp>
      <p:sp>
        <p:nvSpPr>
          <p:cNvPr id="10" name="Pain Hard to read"/>
          <p:cNvSpPr/>
          <p:nvPr/>
        </p:nvSpPr>
        <p:spPr>
          <a:xfrm>
            <a:off x="4343400" y="35204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read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and infrared shots, partial animals and look-alike species slow experts down.</a:t>
            </a:r>
            <a:endParaRPr lang="en-US" sz="1500" dirty="0"/>
          </a:p>
        </p:txBody>
      </p:sp>
      <p:sp>
        <p:nvSpPr>
          <p:cNvPr id="14" name="Pain Insights come late"/>
          <p:cNvSpPr/>
          <p:nvPr/>
        </p:nvSpPr>
        <p:spPr>
          <a:xfrm>
            <a:off x="8138160" y="35204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come late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reach the map long after the photos were taken, and coverage gaps stay hidden.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Our solution: KAMouflage Vision</a:t>
            </a:r>
            <a:endParaRPr lang="en-US" sz="3600" dirty="0"/>
          </a:p>
        </p:txBody>
      </p:sp>
      <p:pic>
        <p:nvPicPr>
          <p:cNvPr id="3" name="Gemsbok detection" descr="C:\Users\abdul\Downloads\KAMouflage-Vision---UAE-HACKATHON26\presentation\assets\p2_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5257800" cy="40583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0372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903720" y="1901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animals in a batch of camera-trap images.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953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 species and combine burst evidence.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40050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confirms or corrects the event.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4617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056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events feed the map and activity chart.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inference example: gemsbok, public southern-African proxy image.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200" dirty="0"/>
          </a:p>
        </p:txBody>
      </p:sp>
      <p:pic>
        <p:nvPicPr>
          <p:cNvPr id="4" name="System architecture" descr="C:\Users\abdul\Downloads\KAMouflage-Vision---UAE-HACKATHON26\presentation\asset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11094415" cy="13707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BURST OF PHOTOS</a:t>
            </a:r>
            <a:endParaRPr lang="en-US" sz="1200" dirty="0"/>
          </a:p>
        </p:txBody>
      </p:sp>
      <p:pic>
        <p:nvPicPr>
          <p:cNvPr id="6" name="Burst flow" descr="C:\Users\abdul\Downloads\KAMouflage-Vision---UAE-HACKATHON26\presentation\assets\bur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3566160"/>
            <a:ext cx="10058400" cy="21607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run locally and are MIT / Apache-2.0 licensed. No images leave the UAE.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F3EA"/>
                </a:solidFill>
              </a:rPr>
              <a:t>Live demo</a:t>
            </a:r>
            <a:endParaRPr lang="en-US" sz="3600" dirty="0"/>
          </a:p>
        </p:txBody>
      </p:sp>
      <p:sp>
        <p:nvSpPr>
          <p:cNvPr id="3" name="Video placeholder"/>
          <p:cNvSpPr/>
          <p:nvPr/>
        </p:nvSpPr>
        <p:spPr>
          <a:xfrm>
            <a:off x="1981048" y="1325880"/>
            <a:ext cx="8229600" cy="4629150"/>
          </a:xfrm>
          <a:prstGeom prst="roundRect">
            <a:avLst>
              <a:gd name="adj" fmla="val 1975"/>
            </a:avLst>
          </a:prstGeom>
          <a:solidFill>
            <a:srgbClr val="1F5C45"/>
          </a:solidFill>
          <a:ln w="19050">
            <a:solidFill>
              <a:srgbClr val="D8B66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547208" y="2771775"/>
            <a:ext cx="1097280" cy="1097280"/>
          </a:xfrm>
          <a:prstGeom prst="ellipse">
            <a:avLst/>
          </a:prstGeom>
          <a:solidFill>
            <a:srgbClr val="D8B66A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912968" y="3073527"/>
            <a:ext cx="502920" cy="457200"/>
          </a:xfrm>
          <a:prstGeom prst="triangle">
            <a:avLst/>
          </a:prstGeom>
          <a:solidFill>
            <a:srgbClr val="14271F"/>
          </a:solidFill>
          <a:ln w="12700">
            <a:solidFill>
              <a:srgbClr val="1427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81048" y="40519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goes here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Tested on 600 camera-trap photos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 bursts with known labels, run through our detector and classifier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bursts kept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 / 190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8745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67.4%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bursts filtered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86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18745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named exactly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/ 190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photos never reach an expert. Unsure species go to review, not into the records.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context: 44 MOCCAE reserves and 381 bird species via Bayanat, plus GBIF species records.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southern-African proxy photos (LILA BC); UAE camera sites simulated. UAE field accuracy needs permitted local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Building on what exists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Wildlife Insights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AddaxAI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KAMouflage Vision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66A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platform for camera-trap management, AI identification and human validation.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Open-source desktop tool. Models run locally, offline after setup.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for MOCCAE: UAE government data, expert review queue, AI Advisor, Camtrap DP export. Runs inside the UAE.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77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434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tailored to MOCCAE, with government data integration and a path to authority-hosted deployment.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wildlifeinsights.org; docs.addaxai.com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Business Model Canvas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 deliver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value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adoption works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Authority sponsor, reserve team and ecologists.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 repetitive review and traceable observations.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staff use it. Conservation authorities sponsor it.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Activities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Inference, verification, evaluation and reporting.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 onboarding, support and quality reviews.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challenge-owner pilot and government integration.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Permitted images, expert labels, software and hosting.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Engineering, review labor, compute, storage and security.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pilot, then support or integration contracts.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2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F3EA"/>
                </a:solidFill>
              </a:rPr>
              <a:t>The next 90 days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01-30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baseline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local GPU, database and storage. Agree access controls and a local test set.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31-60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local quality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743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SpeciesNet on verified UAE crops. Calibrate and test held-out sites.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61-90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real operations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43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new retrievals. Audit errors and compare human time. Make a scale decision.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one site, permitted images and expert reviewers.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99% animal retention, 95% accepted precision, 50% less review time.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existing authority hardware; budget scoped with the authority's IT team. All images and models stay on authority-controlled infrastructure.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Quick facts: how the AI names an animal</a:t>
            </a:r>
            <a:endParaRPr lang="en-US" sz="3600" dirty="0"/>
          </a:p>
        </p:txBody>
      </p:sp>
      <p:sp>
        <p:nvSpPr>
          <p:cNvPr id="3" name="Fact MegaDetector V6"/>
          <p:cNvSpPr/>
          <p:nvPr/>
        </p:nvSpPr>
        <p:spPr>
          <a:xfrm>
            <a:off x="548640" y="13258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MegaDetector V6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anything there?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04872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Draws a box around an animal, person or vehicle. It does not name the species.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30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 ·  MIT</a:t>
            </a:r>
            <a:endParaRPr lang="en-US" sz="1200" dirty="0"/>
          </a:p>
        </p:txBody>
      </p:sp>
      <p:sp>
        <p:nvSpPr>
          <p:cNvPr id="8" name="Fact SpeciesNet"/>
          <p:cNvSpPr/>
          <p:nvPr/>
        </p:nvSpPr>
        <p:spPr>
          <a:xfrm>
            <a:off x="4334256" y="13258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1554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SpeciesNet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animal is it?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404872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animal in the box, e.g. "Arabian oryx, 94%". Trained on about 65 million camera-trap photos and knows about 2,000 labels.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3630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 ·  Apache-2.0</a:t>
            </a:r>
            <a:endParaRPr lang="en-US" sz="1200" dirty="0"/>
          </a:p>
        </p:txBody>
      </p:sp>
      <p:sp>
        <p:nvSpPr>
          <p:cNvPr id="13" name="Fact UAE geofence"/>
          <p:cNvSpPr/>
          <p:nvPr/>
        </p:nvSpPr>
        <p:spPr>
          <a:xfrm>
            <a:off x="8119872" y="13258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1554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geofence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it live here?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404872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tell SpeciesNet the photos come from the UAE, so it never suggests animals that don't live here.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3630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filter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DECISION IS MADE</a:t>
            </a:r>
            <a:endParaRPr lang="en-US" sz="1200" dirty="0"/>
          </a:p>
        </p:txBody>
      </p:sp>
      <p:sp>
        <p:nvSpPr>
          <p:cNvPr id="19" name="Step Burst vote"/>
          <p:cNvSpPr/>
          <p:nvPr/>
        </p:nvSpPr>
        <p:spPr>
          <a:xfrm>
            <a:off x="548640" y="47091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83717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 vote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1663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3–10 frames per trigger are combined</a:t>
            </a:r>
            <a:endParaRPr lang="en-US" sz="1200" dirty="0"/>
          </a:p>
        </p:txBody>
      </p:sp>
      <p:sp>
        <p:nvSpPr>
          <p:cNvPr id="22" name="Step 90% or more"/>
          <p:cNvSpPr/>
          <p:nvPr/>
        </p:nvSpPr>
        <p:spPr>
          <a:xfrm>
            <a:off x="2807894" y="47091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2486" y="483717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or more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72486" y="51663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automatically</a:t>
            </a:r>
            <a:endParaRPr lang="en-US" sz="1200" dirty="0"/>
          </a:p>
        </p:txBody>
      </p:sp>
      <p:sp>
        <p:nvSpPr>
          <p:cNvPr id="25" name="Step Below 90%"/>
          <p:cNvSpPr/>
          <p:nvPr/>
        </p:nvSpPr>
        <p:spPr>
          <a:xfrm>
            <a:off x="5067148" y="47091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1740" y="483717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90%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31740" y="51663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expert confirms or corrects</a:t>
            </a:r>
            <a:endParaRPr lang="en-US" sz="1200" dirty="0"/>
          </a:p>
        </p:txBody>
      </p:sp>
      <p:sp>
        <p:nvSpPr>
          <p:cNvPr id="28" name="Step Empty photos"/>
          <p:cNvSpPr/>
          <p:nvPr/>
        </p:nvSpPr>
        <p:spPr>
          <a:xfrm>
            <a:off x="7326401" y="47091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0993" y="483717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photos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490993" y="51663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out before anyone sees them</a:t>
            </a:r>
            <a:endParaRPr lang="en-US" sz="1200" dirty="0"/>
          </a:p>
        </p:txBody>
      </p:sp>
      <p:sp>
        <p:nvSpPr>
          <p:cNvPr id="31" name="Step Night and people"/>
          <p:cNvSpPr/>
          <p:nvPr/>
        </p:nvSpPr>
        <p:spPr>
          <a:xfrm>
            <a:off x="9585655" y="47091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F5C45"/>
          </a:solidFill>
          <a:ln w="12700">
            <a:solidFill>
              <a:srgbClr val="1F5C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50247" y="483717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and people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50247" y="51663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shots enhanced, people blurred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5C4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Quick facts: data and product</a:t>
            </a:r>
            <a:endParaRPr lang="en-US" sz="3600" dirty="0"/>
          </a:p>
        </p:txBody>
      </p:sp>
      <p:sp>
        <p:nvSpPr>
          <p:cNvPr id="3" name="Facts Data"/>
          <p:cNvSpPr/>
          <p:nvPr/>
        </p:nvSpPr>
        <p:spPr>
          <a:xfrm>
            <a:off x="548640" y="13258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test photos (276 bursts) from LILA BC, a public camera-trap library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protected areas and bird list from MOCCAE via Bayanat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records and IUCN Red List status from GBIF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camera positions simulated until real photos are shared</a:t>
            </a:r>
            <a:endParaRPr lang="en-US" sz="1500" dirty="0"/>
          </a:p>
        </p:txBody>
      </p:sp>
      <p:sp>
        <p:nvSpPr>
          <p:cNvPr id="6" name="Facts Product"/>
          <p:cNvSpPr/>
          <p:nvPr/>
        </p:nvSpPr>
        <p:spPr>
          <a:xfrm>
            <a:off x="4334256" y="13258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554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1031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Streamlit app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Import, gallery and review queue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map, activity by hour, coverage gaps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Advisor: missing cameras, clock errors, threatened species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Camtrap DP export, the format GBIF uses</a:t>
            </a:r>
            <a:endParaRPr lang="en-US" sz="1500" dirty="0"/>
          </a:p>
        </p:txBody>
      </p:sp>
      <p:sp>
        <p:nvSpPr>
          <p:cNvPr id="9" name="Facts Why these models"/>
          <p:cNvSpPr/>
          <p:nvPr/>
        </p:nvSpPr>
        <p:spPr>
          <a:xfrm>
            <a:off x="8119872" y="13258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3DC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554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models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1031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permitted for government use (MIT / Apache-2.0)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MegaDetector v5: its AGPL license would force everything built on it to be open-sourced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locally: no photos go to a cloud service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5C4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How we built it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fit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around MOCCAE's workflow: detect, suggest, expert verify, insights.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MOCCAE reserves and bird list (Bayanat), GBIF species and IUCN status, 600 LILA BC camera-trap photos.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MegaDetector V6 (MIT) and SpeciesNet (Apache-2.0), burst voting, confidence routing, AI Advisor.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app: import, gallery, review queue, insights dashboard, AI Advisor, Camtrap DP export.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Feasibility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locally; 90-day pilot plan; data stays on authority infrastructure.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buyer (conservation authorities), pilot-first adoption, support and integration contracts.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MOCCAE/FCSC via Bayanat; GBIF.org; LILA BC Snapshot Karoo/Kgalagadi (CDLA-Permissive); microsoft/MegaDetector; google/cameratrapai; camtrap-dp.tdwg.org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5C4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What works today, what the pilot adds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 MVP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Funded pilot work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detector and Apache SpeciesNet classifier. Species names, documented footer exclusion for proxy images, resumable caches.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taxonomy coverage, calibrated thresholds and independent tests on unseen UAE sites.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decisions saved, reviewer-confirmed analytics, CSV export in Camtrap DP format.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Authenticated access, protected-location policies, monitoring, backup and validated Camtrap DP packages.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processing and cached demo. No cloud inference API required.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Authority-approved UAE deployment, security review, operational ownership and support agreements.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t">
                    <a:lnL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6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hosting and data reuse require authority approval.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5C4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23"/>
                </a:solidFill>
              </a:rPr>
              <a:t>Evaluation protocol and limitations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evaluation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886200" y="1417320"/>
            <a:ext cx="7756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 complete source bursts. Labels are per burst, so no frame-level or animal-count claim.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0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species scoring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2350008"/>
            <a:ext cx="7756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Case-insensitive name aliases. Any label can match in a multi-label burst. Genus-level answers count as wrong.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8269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limitations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3282696"/>
            <a:ext cx="7756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class balance, few rare-class samples, unknown overlap with pretrained training data. No UAE generalization claim.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153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4215384"/>
            <a:ext cx="7756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Bursts below 90% confidence go to an expert. Corrections become training labels only after quality checks.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experiment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5148072"/>
            <a:ext cx="7756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site-separated UAE test set and an assisted-vs-manual time study with monitoring staff.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5C4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dul\Downloads\KAMouflage-Vision---UAE-HACKATHON26\presentation\assets\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6400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46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605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B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u="sng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github.com/abdalla980/KAMouflageVision-UAE-HACKATHON26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Khaled Sandoqa  ·  Abdalla Izzeldin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Mouflage Vision">
  <a:themeElements>
    <a:clrScheme name="KAMouflage Vision">
      <a:dk1>
        <a:srgbClr val="1B2A23"/>
      </a:dk1>
      <a:lt1>
        <a:srgbClr val="FFFFFF"/>
      </a:lt1>
      <a:dk2>
        <a:srgbClr val="14271F"/>
      </a:dk2>
      <a:lt2>
        <a:srgbClr val="F7F3EA"/>
      </a:lt2>
      <a:accent1>
        <a:srgbClr val="1F5C45"/>
      </a:accent1>
      <a:accent2>
        <a:srgbClr val="D8B66A"/>
      </a:accent2>
      <a:accent3>
        <a:srgbClr val="B68A35"/>
      </a:accent3>
      <a:accent4>
        <a:srgbClr val="56655C"/>
      </a:accent4>
      <a:accent5>
        <a:srgbClr val="E9DFC8"/>
      </a:accent5>
      <a:accent6>
        <a:srgbClr val="B23A3A"/>
      </a:accent6>
      <a:hlink>
        <a:srgbClr val="1F5C45"/>
      </a:hlink>
      <a:folHlink>
        <a:srgbClr val="1F5C45"/>
      </a:folHlink>
    </a:clrScheme>
    <a:fontScheme name="KAMouflage Vis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KAMouflage Vision</dc:title>
  <dc:subject>PptxGenJS Presentation</dc:subject>
  <dc:creator>Khaled Sandoqa and Abdalla Izzeldin</dc:creator>
  <cp:lastModifiedBy>Khaled Sandoqa and Abdalla Izzeldin</cp:lastModifiedBy>
  <cp:revision>1</cp:revision>
  <dcterms:created xsi:type="dcterms:W3CDTF">2026-10-28T05:06:43Z</dcterms:created>
  <dcterms:modified xsi:type="dcterms:W3CDTF">2026-10-28T05:06:43Z</dcterms:modified>
</cp:coreProperties>
</file>